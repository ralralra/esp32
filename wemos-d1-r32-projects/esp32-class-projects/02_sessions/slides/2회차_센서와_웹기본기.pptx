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842248" y="704088"/>
            <a:ext cx="68580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28048" y="704088"/>
            <a:ext cx="685800" cy="50292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0213848" y="841248"/>
            <a:ext cx="64008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53928" y="841248"/>
            <a:ext cx="594360" cy="45720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10058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7" name="Shape 5"/>
          <p:cNvSpPr/>
          <p:nvPr/>
        </p:nvSpPr>
        <p:spPr>
          <a:xfrm>
            <a:off x="9464040" y="64008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149840" y="114300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77724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384280" y="12344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기반 IoT 메이커 교육 · ESP32 × 센서 모듈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1051560"/>
            <a:ext cx="1691640" cy="475488"/>
          </a:xfrm>
          <a:prstGeom prst="roundRect">
            <a:avLst>
              <a:gd name="adj" fmla="val 50000"/>
            </a:avLst>
          </a:prstGeom>
          <a:solidFill>
            <a:srgbClr val="132C4F"/>
          </a:solidFill>
          <a:ln w="12700">
            <a:solidFill>
              <a:srgbClr val="1BC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05156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2회차 / 7회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1783080"/>
            <a:ext cx="11155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보드가 세상을 느끼는 법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나의 첫 웹페이지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02920" y="33101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FC3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센서로 세상을 숫자로 읽고, HTML·CSS·JS로 화면을 직접 만들어요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진동·홀·빛 — 첫 센서들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64992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47872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온습도·초음파 + 경보기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27064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9944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9944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HTML·CSS로 첫 페이지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89136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72016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72016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JS로 버튼에 생명 불어넣기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3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입력 + HTML·CSS·JS 웹 기본기 · 4시간 과정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목표와 흐름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50분 수업 + 10분 휴식 · 4교시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213969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02996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입력과 아날로그 입력의 차이를 설명하고 센서 값을 읽을 수 있어요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333756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355701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44728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값에 따라 출력장치가 반응하는 '입력→판단→출력' 프로그램을 만들 수 있어요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475488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497433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486460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HTML·CSS·JS의 역할을 구분하고, 버튼이 동작하는 웹페이지를 직접 작성해요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2084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시간표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920240"/>
          <a:ext cx="49651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5935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활동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입력이란? · 진동·홀(디지털) · 빛·소리(아날로그) · 무드등 미션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온습도 · 초음파 거리 측정 · 조건문 · 접근 경보기 미션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웹의 원리 · HTML 뼈대 · CSS 꾸미기 · 리모컨 페이지 뼈대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JS 동작 넣기 · 클릭 이벤트 · fetch 맛보기 · 리모컨 완성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입력 vs 아날로그 입력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센서가 세상을 숫자로 번역하는 두 가지 방식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10512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: 둘 중 하나 (0 또는 1)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눌렸다/안 눌렸다 · 켜짐/꺼짐 — 예: 진동센서, 홀센서(자석) → digitalRead(핀)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715768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3108960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788920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아날로그 : 연속된 정도 (0 ~ 4095)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밝기 '정도' · 시끄러운 '정도' — 예: 빛, 소리, 토양습도 → analogRead(핀)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4014216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4407408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087368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4095?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ESP32는 전압을 4096단계(12비트)로 쪼개 읽어요 — 컴퓨터가 다루는 건 결국 숫자!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🔑 아날로그 센서의 핀 규칙 : A2~A5 핀(GPIO 35·34·36·39) — WiFi와 충돌하지 않는 자리 (핀맵 문서!)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세트 탐험 ① 바로 읽는 센서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analogRead / digitalRead 한 줄이면 읽혀요 — 오늘의 주인공들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554480"/>
                <a:gridCol w="3291840"/>
                <a:gridCol w="469087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종류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읽는 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우리 프로젝트에서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빛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아날로그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analogRead(핀)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화분 일조량 · 환경 모니터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아날로그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analogRead(핀)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교실 소음 · 호출 감지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토양습도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아날로그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analogRead — A2~A5 위치!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화분 핵심 (6회차 연결)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진동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디지털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digitalRead(핀)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충격·움직임 감지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홀(자기)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디지털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digitalRead + 자석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 열림 감지 (출석·안전)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초음파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 측정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pulseIn() → 거리 계산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우산 거치 · 접근 경보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세트 탐험 ② 라이브러리 센서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도구상자(#include)를 불러와 전용 함수로 읽어요 — 6회차에 팀별로 골라 써요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572000"/>
                <a:gridCol w="46908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읽는 법 (예)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우리 프로젝트에서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온습도(DHT)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readTemperature() · readHumidity()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화분 · 환경 모니터 (오늘 실습!)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물온도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방수형 — 물에 직접 담가 측정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화분 물탱크 온도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저울처럼 무게를 숫자로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매점 실물 재고 · 우산 감지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CO2 · 미세먼지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농도 읽기 (예열 필요)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환기 알림 · 실내 공기질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자이로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기울기·움직임 읽기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거치대 기울임·낙하 감지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심박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맥박 파형 읽기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보건·안전 체험 코너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요령 : 블록코딩에 전용 블록이 있으면 블록으로 먼저 확인 → 블록↔C 전환으로 코드를 얻는 것이 지름길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진동과 빛 읽기 — 시리얼 모니터로 관찰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시리얼 모니터 = 보드가 컴퓨터에 보내는 실시간 일기장 (속도 115200 맞추기!)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4434840"/>
          </a:xfrm>
          <a:prstGeom prst="roundRect">
            <a:avLst>
              <a:gd name="adj" fmla="val 206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VIB   27 // 진동 (D6 핀) ★핀맵 문서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LIGHT 34 // 빛 (A2~A5 위치)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setup()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Serial.begin(115200); // 채널 열기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pinMode(VIB, INPUT);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v = digitalRead(VIB);  // 0/1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l = analogRead(LIGHT); // 0~4095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Serial.print("vib:");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Serial.print(v);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Serial.print(" light:");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Serial.println(l);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delay(300);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IDE 우상단 돋보기 = 시리얼 모니터, 우하단 속도 115200 baud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책상을 톡톡 두드리면 vib가 0↔1로 튀어요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센서를 손으로 가리면 light가 뚝 떨어져요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글자가 외계어로 깨지면 속도(baud) 불일치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'관찰' 습관이 디버깅의 절반이에요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🎯 미션 ① 빛 반응 무드등 : map(l, 0, 4095, 255, 0)으로 반전 → 어두울수록 LED가 밝게!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온습도(DHT)와 초음파 — 새 감각 2가지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화분·환경 모니터의 핵심 센서 + 박쥐처럼 거리 재기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5074920"/>
          </a:xfrm>
          <a:prstGeom prst="roundRect">
            <a:avLst>
              <a:gd name="adj" fmla="val 180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&lt;DHT.h&gt;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DHTPIN 19 // ★핀맵 확인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DHT dht(DHTPIN, DHT11);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 = dht.readTemperature();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 = dht.readHumidity();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⚠ 2초에 1번만! delay(2000)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TRIG 5 // 발사 ★핀맵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ECHO 4 // 수신 ★핀맵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readDistance()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digitalWrite(TRIG, LOW);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delayMicroseconds(2);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digitalWrite(TRIG, HIGH);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delayMicroseconds(10);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digitalWrite(TRIG, LOW);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long t = pulseIn(ECHO, HIGH);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 * 0.034 / 2; // cm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float = 소수점 있는 숫자 (25.3 같은) — 값이 nan이면 배선·핀번호·간격 확인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재미 포인트 : 센서에 입김 불기 → 습도 급상승!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초음파 : 소리 왕복 시간 × 0.034 ÷ 2 = 거리(cm)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readDistance()처럼 '내 함수'를 만들면 재사용 가능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우산 대여함의 '우산 있음/없음' 감지가 바로 이 원리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 ② 가까이 오면 경보!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4" name="Text 2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859536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595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 </a:t>
            </a:r>
            <a:pPr indent="0" marL="0">
              <a:buNone/>
            </a:pPr>
            <a:r>
              <a:rPr lang="en-US" sz="15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물체가 10cm 안으로 접근하면 LED 점멸 + 시리얼 WARNING!!, 멀어지면 SAFE — 7세그엔 거리(cm)가 실시간 표시돼요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조건 체크리스트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11183112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4612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초음파로 거리 측정이 시리얼에 정상 출력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if (d &lt; 10) { 경보 } else { SAFE } — 10cm 기준으로 경보 동작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기준값 10을 바꾸면 '민감도'가 바뀌어요 — 직접 실험!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심화 : 거리 3단계 (SAFE / CAREFUL·느린 점멸 / WARNING·빠른 점멸)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힌트  3단계는 if ~ else if ~ else 구조 — 조건을 위에서부터 차례로 검사해요. if는 블록의 [만약~라면]과 완전히 같아요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웹페이지는 세 가지 재료로 만들어요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역할이 다른 세 언어가 한 팀으로 일해요 — AI에게 시키기 전에, 딱 한 번은 내 손으로!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10512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 — 뼈대 (골격)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'여기 제목, 여기 버튼이 있다' — 내용과 구조를 정해요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715768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3108960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788920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CSS — 꾸밈 (옷차림)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'제목은 파랗게, 버튼은 크고 둥글게' — 모양과 색을 정해요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4014216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4407408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087368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JavaScript — 동작 (행동)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'버튼을 누르면 이렇게 해라' — 행동과 반응을 정해요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셋을 모두 만나고, 5회차에 AI(AI Studio)가 대신 써 주는 걸 봐요 — 읽을 줄 알면 고칠 수 있어요!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① 나의 첫 HTML + CSS 꾸미기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메모장에 입력 → '리모컨.html' 저장 → 더블클릭으로 브라우저에서 열기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5074920"/>
          </a:xfrm>
          <a:prstGeom prst="roundRect">
            <a:avLst>
              <a:gd name="adj" fmla="val 180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 charset="utf-8"&gt;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&lt;style&gt;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h1 { color: #2E6BE6; }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button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font-size: 24px;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padding: 20px 40px;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border-radius: 12px;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background: #2E6BE6;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color: white; border: none; }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&lt;/style&gt;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&lt;h1&gt;Team1 리모컨&lt;/h1&gt;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&lt;button&gt;LED 켜기&lt;/button&gt;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&lt;button&gt;LED 끄기&lt;/button&gt;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&lt;태그&gt;내용&lt;/태그&gt; — 여는 태그와 닫는 태그가 한 쌍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charset="utf-8" 이 있어야 한글이 안 깨져요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 : 파일 형식 '모든 파일' + 인코딩 UTF-8 (최대 함정!)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선택자 { 속성: 값; } — padding은 버튼 크기, border-radius는 둥글기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루틴 : 수정 → Ctrl+S → 브라우저 F5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주소창이 C:\...로 시작하면 정상 — 아직 '내 컴퓨터 파일'을 보는 중 (3회차 복선!)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② JS 클릭 이벤트 — 버튼에 생명을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&lt;/body&gt; 바로 위에 &lt;script&gt;를 추가해요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5074920"/>
          </a:xfrm>
          <a:prstGeom prst="roundRect">
            <a:avLst>
              <a:gd name="adj" fmla="val 180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id="status"&gt;대기 중&lt;/p&gt;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onclick="ledOn()"&gt;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LED 켜기&lt;/button&gt;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onclick="ledOff()"&gt;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LED 끄기&lt;/button&gt;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ledOn()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document.getElementById("status")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.innerText = "LED 켜짐!";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ledOff()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document.getElementById("status")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.innerText = "LED 꺼짐";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onclick="함수()" : 클릭하면 이 함수를 실행하라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id는 요소의 이름표 — JS가 이름표로 요소를 찾아요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innerText = 글자 내용을 바꿔요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 아직 진짜 LED는 안 켜져요 — 화면 글자만!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fetch("주소") 한 줄이 다음 주의 열쇠 — 받아줄 상대(서버)는 3회차에 공개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F12 — 웹 개발자의 청진기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버튼이 말을 안 들을 때, 브라우저가 이유를 말해주고 있어요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212080" cy="5074920"/>
          </a:xfrm>
          <a:prstGeom prst="roundRect">
            <a:avLst>
              <a:gd name="adj" fmla="val 1802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34518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4027932"/>
            <a:ext cx="4663440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개발자 도구 Console — 빨간 에러 메시지 예시 화면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0" y="1371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2043684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20436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1783080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브라우저에서 F12 누르기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또는 마우스 우클릭 → 검사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26480" y="2985516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9855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724912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상단 탭에서 Console 클릭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여기가 에러 메시지가 표시되는 곳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26480" y="3927348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39273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3666744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버튼을 눌러 보고 빨간 글씨 확인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에러가 없으면 조용해요 — 조용하면 JS는 무죄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26480" y="4869180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48691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4608576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에러 문장 읽기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'ledOn is not defined' = 'ledOn을 못 찾겠어' — 철자 확인!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126480" y="5811012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58110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5550408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고치고 저장(Ctrl+S) → F5 → 재확인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반복이 웹 개발의 기본 리듬이에요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에러 문장은 '범인의 자백' — 무섭다고 안 읽으면 영원히 못 잡아요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 ③ 내 리모컨 웹페이지 완성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4" name="Text 2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859536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595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 </a:t>
            </a:r>
            <a:pPr indent="0" marL="0">
              <a:buNone/>
            </a:pPr>
            <a:r>
              <a:rPr lang="en-US" sz="15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 + 상태 표시 + 크고 둥근 버튼 2개(켜기/끄기), 누르면 상태 글자가 바뀌는 페이지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조건 체크리스트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11183112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4612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HTML : h1 제목, 상태 p(id 부여), 버튼 2개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CSS : 파란 계열, 버튼 크게(모바일 기준), 가운데 정렬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JS : 클릭 시 상태 글자 변경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팀 이름과 개성을 담을 것 — 다음 주 이 페이지가 ESP32에 들어가요!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힌트  막히면 순서대로 : ① F5 새로고침 했는지 ② 따옴표·괄호 짝 맞는지 ③ id 철자가 같은지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 막히는 문제 해결소 — 2회차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막히면 이 표부터! 에러는 정보예요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84708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53619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한글이 ???로 깨져 보여요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&lt;meta charset="utf-8"&gt; 확인 + 저장할 때 인코딩 UTF-8 선택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312724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81635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값이 nan 또는 0만 나와요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핀 번호를 핀맵과 대조, DHT는 측정 간격 2초 이상, 배선 재확인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402336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" y="440740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09651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버튼을 눌러도 아무 반응이 없어요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F12 → Console 탭의 빨간 에러 읽기 — 함수 이름·id 철자 불일치가 대부분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530352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" y="568756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5687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537667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CSS가 적용이 안 돼요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&lt;style&gt;이 &lt;head&gt; 안에 있는지, 중괄호 짝, 세미콜론 확인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수업 정리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60350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727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우리가 해낸 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5528" y="2103120"/>
            <a:ext cx="5486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디지털/아날로그 입력의 차이를 이해하고 진동·홀·빛·온습도·초음파를 읽었어요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if 조건문으로 '판단하는 보드'(접근 경보기)를 만들었어요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HTML·CSS·JS의 역할을 구분하며 첫 웹페이지를 직접 작성했어요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클릭 이벤트로 화면이 반응하게 만들었어요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12280" y="1371600"/>
            <a:ext cx="4873752" cy="4434840"/>
          </a:xfrm>
          <a:prstGeom prst="roundRect">
            <a:avLst>
              <a:gd name="adj" fmla="val 2062"/>
            </a:avLst>
          </a:prstGeom>
          <a:solidFill>
            <a:srgbClr val="0B1B33"/>
          </a:solidFill>
          <a:ln/>
        </p:spPr>
      </p:sp>
      <p:sp>
        <p:nvSpPr>
          <p:cNvPr id="7" name="Shape 5"/>
          <p:cNvSpPr/>
          <p:nvPr/>
        </p:nvSpPr>
        <p:spPr>
          <a:xfrm flipV="1">
            <a:off x="8842248" y="5047488"/>
            <a:ext cx="68580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28048" y="5047488"/>
            <a:ext cx="685800" cy="50292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213848" y="5184648"/>
            <a:ext cx="64008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53928" y="5184648"/>
            <a:ext cx="594360" cy="45720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53492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2" name="Shape 10"/>
          <p:cNvSpPr/>
          <p:nvPr/>
        </p:nvSpPr>
        <p:spPr>
          <a:xfrm>
            <a:off x="9464040" y="498348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49840" y="548640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89920" y="512064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384280" y="55778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15727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— 3회차 : ESP32 웹서버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14032" y="2103120"/>
            <a:ext cx="4343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만든 리모컨.html을 ESP32 안에 심어요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스마트폰이 ESP32의 WiFi에 직접 접속!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버튼으로 진짜 LED를 켜요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인터넷이 없어도 되는 나만의 서버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💾 숙제 아닌 숙제 : 리모컨.html 파일을 USB나 클라우드에 꼭 보관해 오기 — 다음 주의 주인공이에요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2026-07-20T12:43:39Z</dcterms:created>
  <dcterms:modified xsi:type="dcterms:W3CDTF">2026-07-20T12:43:39Z</dcterms:modified>
</cp:coreProperties>
</file>