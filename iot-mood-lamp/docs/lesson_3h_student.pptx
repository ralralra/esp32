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f230c59-5625-1fad-d974-15269d8b1d95}">
          <p14:sldIdLst>
            <p14:sldId id="256"/>
          </p14:sldIdLst>
        </p14:section>
        <p14:section name="소개" id="{e15b05f2-cf93-82f9-9757-35a1ec5d2f4c}">
          <p14:sldIdLst>
            <p14:sldId id="257"/>
            <p14:sldId id="258"/>
            <p14:sldId id="259"/>
          </p14:sldIdLst>
        </p14:section>
        <p14:section name="배선" id="{cb186401-5489-10bb-e2fe-1493ed9e7d58}">
          <p14:sldIdLst>
            <p14:sldId id="260"/>
            <p14:sldId id="261"/>
            <p14:sldId id="262"/>
          </p14:sldIdLst>
        </p14:section>
        <p14:section name="진행" id="{33fe0fbe-0562-79ae-b7de-a21841c18674}">
          <p14:sldIdLst>
            <p14:sldId id="263"/>
            <p14:sldId id="264"/>
            <p14:sldId id="265"/>
            <p14:sldId id="266"/>
            <p14:sldId id="267"/>
          </p14:sldIdLst>
        </p14:section>
        <p14:section name="도움" id="{dbebe83f-ba8e-3b99-18e7-1c1bf49bbf89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수업 전날 끝내 둘 것
- PC: 모든 PC에 Arduino IDE · ESP32 보드 · 라이브러리 2개(Adafruit NeoPixel, PubSubClient) 설치, 보드 1대 업로드까지 확인
- V1 스트립: 16구로 자르고 3가닥 선 납땜까지 완료 (학생이 하면 팀당 15분 + 실패)
- 네트워크: 교실 와이파이가 2.4GHz이고 로그인 페이지가 없는지 확인. 안 되면 선생님 폰 핫스팟
- 브로커 + 앱: EMQX Cloud Serverless 계정, TOPIC_PREFIX 결정, MQTT판 앱 1개 완성·테스트, 링크 준비 (docs/mqtt.md)
- 코드: 와이파이·브로커 값을 채운 step5_app_mqtt 파일 배포 (학생은 TEAM_ID 한 줄만). TEAM01~10 스티커를 보드·폰에
- 완성 보드 1대: 시연용이자 막힌 팀이 눈으로 비교할 기준. 예비 보드 2대 권장
핵심 원칙: 시간을 먹는 것은 코딩이 아니라 설치·납땜·앱 만들기. 이 셋을 수업 밖으로 빼면 3시간이면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팀 배정은 수업 전에
- V2(릴레이 전구)는 220V 배선이 교사 작업으로 들어가 팀당 시간이 두 배. 10팀이면 V2는 1~2팀만 두거나, V2는 교사 시연 1대로 돌리는 편이 안전하다.
- 두 버전은 보드·센서·1단계 코드가 완전히 같다. 다른 것은 출력 부품(네오픽셀 ↔ 릴레이)과 출력 코드뿐.
- 부품 확인: Wemos D1 R32 + 센서쉴드 V5, HC-SR501 PIR, 조도 모듈(AO 출력), 암-암 점퍼선. V1은 WS2812B RGB 16구 + 2포트 충전기, V2는 KY-019 릴레이 + 5V 1A 충전기 + 램프.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걸음 운영
- 성공 기준을 통과한 팀만 다음 걸음으로. 기준은 학생이 스스로 판단할 수 있는 것으로 두었다.
- ②센서와 ③출력은 서로 독립이라, 느린 팀은 ③을 건너뛰고 ④자동 무드등으로 가도 된다 (④ 코드에 네오픽셀 점등이 들어 있다).
- 저장소의 4단계(구글시트 + Apps Script, 1~3초 지연)는 이 수업에서 건너뛰고, 5단계(MQTT, 0.1~0.5초)를 ⑤로 쓴다. 학생이 바꾸는 코드 양은 비슷하고 반응이 빨라 수업 체감이 좋다.
- 슬라이드 번호 ①~⑤는 저장소 폴더의 step1·2·3·5에 대응한다 (④ = step3, ⑤ = step5).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미리 정해 둔 손절 기준 — 시간이 되면 망설이지 않는다
- 0:45 배선이 안 끝난 팀 → 선생님 예비 보드로 교체. 배선은 오늘의 목표가 아니다.
- 2:20 앱 연결이 안 되는 팀 → ④ 자동 무드등으로 발표. 센서 자동이 핵심 성취이고 와이파이 없이 동작한다.
- 와이파이가 전체적으로 안 되면 → ⑤는 선생님 보드 1대를 폰 핫스팟으로 시연만 하고 끝낸다.
- 쉬는 시간(1:25~1:35)에 V2 팀의 220V 전구 배선을 교사가 연결한다. 이때 학생은 보드에서 손을 뗀다.
- 0:00~0:15 완성품 시연은 '오늘 끝에 이것이 된다'를 보여주는 시간. 길게 설명하지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보드 설명 보충 (docs/board.md)
- D1 R32는 우노 모양이지만 칩은 ESP32(WROOM-32). 코드의 핀은 GPIO 번호: 실드 6번=GPIO27, 2번=GPIO26, 3번=GPIO25, A3=GPIO34.
- 피해야 할 핀: GPIO 0·2·12·15(부팅 모드, 실드 A0·8번 자리) · GPIO 1·3(USB 시리얼, 실드 0·1번) · GPIO 34~39(입력 전용, 실드 A2~A5).
- GPIO34는 ADC1이라 와이파이를 켜도 아날로그를 읽을 수 있다. A0·A1(GPIO2·4)은 와이파이를 켜면 못 읽는다 — 조도센서를 A3에 두는 이유.
- 조도센서 VCC를 3V3에 두는 이유: 실드 V는 5V라서 그대로 꽂으면 출력이 3.3V를 넘어 ESP32 입력 핀에 무리를 준다.
- 모듈마다 핀 순서가 다르다. 학생이 '모듈 핀 이름을 보고 S·V·G에 한 가닥씩' 꽂도록 반복해서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V1 전원과 흔한 실수 (docs/power.md)
- 전원: 2포트 USB 충전기 1개 — 2.4A 포트 → USB 전원선(빨강·검정) → 실드 EXT PWR, 1A 포트 → 보드 micro USB. 플러그는 1개.
- 펌웨어는 MAX_BRIGHTNESS = 128로 네오픽셀을 약 0.5A로 묶는다. 16구는 상한 255까지 올려도 2.4A 포트 안에 들어온다.
- SEL 점퍼를 꽂은 채 EXT PWR에 전원을 넣으면 보드 전원과 외부 전원이 합선된다. 배선 검사 때 점퍼부터 본다.
- 개발 중 연결: 보드 micro USB(PC) + EXT PWR(충전기 2.4A). SEL을 뺐으면 둘 다 꽂아도 된다. PC USB만 꽂으면 실드 V 줄에 전원이 없어 네오픽셀·PIR이 안 켜진다. 보드 micro USB에 PC와 충전기를 동시에 꽂는 것만 피한다.
- 가장 흔한 실수: DIN 방향(화살표 반대쪽 끝에 꽂음), 5V와 GND 바꿔 꽂음, 조도센서 VCC를 5V(V)에 꽂음.
- 소켓의 전구는 빼고 램프의 220V 코드는 분리해 둔다 — 빈 소켓에 220V가 들어오는 일을 원천 차단.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220V 쪽은 교사가 직접 (v2_relay_bulb/wiring.md)
- 콘센트 L(활선) 한 가닥만 릴레이 COM–NO로 끊어 잇는다. 중성선(N)은 그대로 소켓으로.
- NO(평상시 열림) 단자를 쓴다 → 보드가 꺼지거나 리셋되면 전구도 꺼진다.
- 릴레이 단자(COM·NO)는 케이스나 수축튜브로 완전히 덮어 손이 닿지 않게. KY-019는 포토커플러 절연이 없는 모듈이라 220V 쪽 절연을 더 꼼꼼히.
- 램프 코드의 중간 스위치는 남겨 둔다 — 비상시 수동으로 끌 수 있게.
- 전원: 보드 micro USB에 5V 1A 충전기. 릴레이 코일(70~90mA) + PIR + 조도 + ESP32로 충분. 220V와 합쳐 플러그 2개 → 멀티탭 하나.
- 코드 업로드·테스트 중에는 PC USB만으로 V2 부품이 모두 동작한다. 완성 후 충전기로 바꿀 때 PC와 동시에 꽂지 않는다.
- 220V 연결은 쉬는 시간에, 보드 전원을 뺀 상태에서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센서 테스트에서 자주 나오는 것
- 이번에 쓰는 조도 모듈은 어두울수록 원시값이 커지는 종류라 DARK_IS_HIGH 기본값이 true다. '가리면 원시값은 올라가고 %는 내려가야' 맞다. 반대면 false.
- PIR(HC-SR501)은 전원 후 30~60초 안정화. 렌즈가 받침 밖으로 나와 있는지 확인. 모듈 다이얼 두 개: 감도·유지시간(▽ 해제까지 몇 초).
- 기대값: 교실 불 켬 약 70%, 불 끔 약 15% → DARK_LEVEL 30 근처. 교실마다 다르니 팀이 적은 숫자를 그대로 쓰게 한다.
- 정한 DARK_LEVEL과 DARK_IS_HIGH를 ④·⑤ 코드 위쪽에 똑같이 적어야 한다. 빠뜨리는 팀이 가장 많다 — 기록표를 사진으로 남기게.
- 시리얼 모니터는 115200. 글자가 깨지면 속도부터.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V1 네오픽셀 코드 배경
- step2_neopixel_test는 동작이 확인된 Adafruit strandtest 샘플과 같은 설정(LED_PIN 27, LED_COUNT 16, NEO_GRB + NEO_KHZ800, setBrightness 50). 학생이 이 값을 건드리지 않게 한다.
- 스트립은 WS2812B RGB(RGBW 아님). RGBW 설정으로 보내면 초록·빨강·파랑·꺼짐이 한 칸씩 멈춰 보인다.
- 라이브러리: Adafruit NeoPixel (1.15.x). 시리얼 명령: c &lt;색이름|6자리&gt;, rainbow, chase, b 0~255, test, on, off.
- 아예 안 켜지면 순서대로: EXT PWR 전원 들어오나 → SEL 점퍼 뺐나 → DIN이 화살표 시작 쪽인가 → 6번 S에 꽂았나.
- 끝쪽 LED만 안 켜지면 LED_COUNT가 실제 개수보다 작거나, 납땜 접촉 불량.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V2 릴레이 코드 배경
- KY-019형은 HIGH 트리거 → RELAY_ACTIVE_LOW = false. 전구가 반대로 동작하면 거의 다 COM–NC에 꽂은 것 → NO로 옮긴다. 모듈 LED까지 반대일 때만 코드 값을 바꾼다.
- 부팅 순간 전구가 깜빡이지 않게 pinMode보다 먼저 '꺼짐' 값을 써 둔다. 리셋 버튼 테스트는 이것을 확인하는 절차.
- 220V 없이 릴레이만 꽂고 테스트한다. '딸깍' 소리 + 모듈 LED로 충분히 확인된다.
- 시리얼 명령: 1(켜기) · 0(끄기) · t(토글) · blink(3번). on/off도 된다.
- 쉬는 시간에 220V를 연결한 뒤 ④에서 실제 점등 확인. 연결 전에는 보드 전원을 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자동 동작 규칙의 이유 (step3 README)
- DARK_MARGIN 5%: 켜짐 기준(DARK_LEVEL)과 꺼짐 기준(DARK_LEVEL + 5%)을 띄워, 경계에서 릴레이가 딸깍거리거나 네오픽셀이 깜빡이지 않게.
- AUTO_OFF_MS 5분: 움직임이 없으면 꺼짐. 수업 중 확인은 ⑤ 앱의 자동화 탭이나 CONFIG 명령으로 짧게 바꿔 보여줄 수 있다.
- USE_PIR = false면 조도만으로 켜고 끈다. DARK_LEVEL = 100이면 항상 '어두움'이라 PIR만으로 켜진다.
- delay() 없이 millis()로 돌아가는 논블로킹 구조라 ⑤에서 통신을 얹어도 멈추지 않는다.
- 자기 빛 문제: 조도센서가 자기 조명 빛을 보면 켜짐→밝아짐→꺼짐→어두움→켜짐을 반복한다. 시리얼 sensor 명령으로 값을 보며 센서를 돌리거나 가린다.
- 파일: V1 step3_auto_mood_lamp, V2 step3_auto_lamp. 둘 다 와이파이 없이 동작.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⑤ 준비는 전부 교사 몫 (docs/mqtt.md)
- 배포 파일(step5_app_mqtt)에 미리 채울 값: WIFI_SSID · WIFI_PASS · MQTT_HOST · MQTT_PORT 8883 · MQTT_USER · MQTT_PASS · TOPIC_PREFIX. 학생은 TEAM_ID 한 줄만.
- 브로커: EMQX Cloud Serverless(무료 할당 안). 보드는 TLS 8883, 앱은 WSS 8084. 브로커 주소·계정은 저장소에 올리지 말고 수업에서 직접 나눠 준다.
- 확인: 브로커 웹 클라이언트에서 TOPIC_PREFIX/# 를 구독해 두면 보드를 켤 때 …/TEAMnn/status = online 과 state JSON이 보인다. 안 보이면 와이파이(2.4GHz·로그인 페이지·8883 포트) 문제.
- 앱은 교사가 만든 링크 하나. 설정 탭에서 팀을 고르면 그 팀 토픽으로 명령이 간다. 팀 번호가 겹치면 두 보드가 같이 켜진다.
- 명령: ON · OFF · AUTO · COLOR &lt;색&gt; · BRIGHT &lt;0~100&gt; · CONFIG &lt;어두움&gt; &lt;초&gt;. V2는 COLOR·BRIGHT를 무시한다. 음성 규칙은 docs/voice_control.md.
- 반응은 0.1~0.5초. 느리거나 끊기면 거의 다 교실 와이파이.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순회할 때
- 학생이 30초 체크를 먼저 돌리게 하고, 손을 들면 체크 결과부터 묻는다. 대부분 전원·점퍼(V1 SEL, EXT PWR)와 DARK_IS_HIGH 방향에서 끝난다.
- 완성 보드 1대를 교탁에 켜 두면 막힌 팀이 배선을 눈으로 비교할 수 있다.
- 손절 기준(4쪽 노트): 0:45 배선 → 예비 보드 교체, 2:20 앱 → ④로 발표, 와이파이 불통 → 교사 시연.
- 연기·탄 냄새·뜨거움은 즉시 전원 제거. V2의 220V 쪽은 학생이 만지지 않았는지 먼저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 노트] 발표와 정리
- 팀마다 색 하나(V2는 켜 둔 상태)를 정해 켜 두고, 되는 것만 보여준다. 안 되는 것을 설명하는 시간은 두지 않는다.
- 시간이 남는 팀 과제(코드 수정 없이): c FF8800 같은 6자리 색 코드, 앱 자동화 탭에서 어두움 기준·꺼지는 시간 바꿔 저장, PIR 유지시간 다이얼로 '사람 없음' 시간 체감.
- 다음 시간 후보: V2 릴레이 전구를 전 팀으로 확장(220V는 교사), 4단계 구글시트 기록으로 '누가 언제 켰나' 데이터 보기.
- 정리: 충전기를 먼저 빼고 보드에서 선을 뺀다. V2는 교사가 220V를 먼저 분리한다.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IoT 무드등 만들기 · 학생용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7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6583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DDD8F7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IoT 실습 · 3시간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IoT 실습 · 3시간</a:t>
            </a:r>
            <a:endParaRPr lang="en-US" sz="10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4630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chemeClr val="tx1"/>
                </a:solidFill>
              </a:rPr>
              <a:t>3시간 뒤,</a:t>
            </a:r>
            <a:endParaRPr lang="en-US" sz="4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chemeClr val="tx1"/>
                </a:solidFill>
              </a:rPr>
              <a:t>무드등 개발자 탄생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931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Wemos D1 R32 · 센서 · 네오픽셀 / 릴레이 · 폰 앱으로 만드는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1442"/>
                </a:solidFill>
              </a:rPr>
              <a:t>"어두워지면 저절로, 말하면 바로 켜지는 조명"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5153924"/>
            <a:ext cx="317480" cy="31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44752" y="5029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76" y="5153924"/>
            <a:ext cx="317480" cy="317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57984" y="5029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708" y="5153924"/>
            <a:ext cx="317480" cy="3174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71216" y="5029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940" y="5153924"/>
            <a:ext cx="317480" cy="3174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229600" y="914400"/>
            <a:ext cx="2743200" cy="5120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0">
            <a:solidFill>
              <a:srgbClr val="1F1442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9144000" y="1078992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841248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나만의 무드등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686800" y="2011680"/>
            <a:ext cx="1828800" cy="1463040"/>
          </a:xfrm>
          <a:prstGeom prst="roundRect">
            <a:avLst>
              <a:gd name="adj" fmla="val 9375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194560"/>
            <a:ext cx="731520" cy="7315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켜짐 · 웜화이트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686800" y="3703320"/>
            <a:ext cx="868680" cy="411480"/>
          </a:xfrm>
          <a:prstGeom prst="roundRect">
            <a:avLst>
              <a:gd name="adj" fmla="val 48889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686800" y="3703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켜기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9646920" y="3703320"/>
            <a:ext cx="868680" cy="411480"/>
          </a:xfrm>
          <a:prstGeom prst="roundRect">
            <a:avLst>
              <a:gd name="adj" fmla="val 48889"/>
            </a:avLst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9646920" y="3703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38A6"/>
                </a:solidFill>
              </a:rPr>
              <a:t>자동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41248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🎤 "켜 줘" · "파란색으로"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8412480" y="4937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오늘 끝나면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내 폰에서 이렇게 켜진다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시작 · 오늘의 지도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 만들 것 — 우리 팀은 어느 버전?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두 버전 모두 같은 보드, 같은 센서, 같은 코드 흐름. 다른 것은 '무엇으로 빛을 내느냐' 하나뿐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518258"/>
            <a:ext cx="358445" cy="3584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83480" y="251460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2514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네오픽셀 버전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1442"/>
                </a:solidFill>
              </a:rPr>
              <a:t>16개 RGB LED 띠가 조명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1442"/>
                </a:solidFill>
              </a:rPr>
              <a:t>색·밝기를 마음대로 바꿈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1442"/>
                </a:solidFill>
              </a:rPr>
              <a:t>5V만 사용 — 220V 없음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1442"/>
                </a:solidFill>
              </a:rPr>
              <a:t>배선 전부 내가 직접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2377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518258"/>
            <a:ext cx="358445" cy="35844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652760" y="251460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652760" y="2514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릴레이 전구 버전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653796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1442"/>
                </a:solidFill>
              </a:rPr>
              <a:t>진짜 220V 전구가 조명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1442"/>
                </a:solidFill>
              </a:rPr>
              <a:t>켜기·끄기만 (색 없음)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1442"/>
                </a:solidFill>
              </a:rPr>
              <a:t>릴레이 = 보드가 누르는 스위치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1442"/>
                </a:solidFill>
              </a:rPr>
              <a:t>220V 쪽은 선생님이 연결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시작 · 오늘의 지도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다섯 걸음 — 걸음마다 '성공 기준' 하나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성공 기준을 통과하면 다음 걸음으로. 걸음 ③만 네오픽셀 / 릴레이로 갈라집니다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배선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성공 기준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전원 넣어도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연기 안 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214884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센서 테스트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성공 기준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시리얼에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숫자가 보임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14884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출력 테스트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성공 기준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V1 무지개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V2 딸깍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214884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자동 무드등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성공 기준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불 끄고 손 흔들면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켜짐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509760" y="214884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폰 연동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BFEF"/>
                </a:solidFill>
              </a:rPr>
              <a:t>성공 기준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0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폰에서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"켜 줘"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DDD8F7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막히면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13쪽 '30초 체크'를 먼저 돌리고 손을 듭니다. 걸음 ①~⑤는 저장소 폴더의 step1·1·2·3·5에 해당합니다.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시작 · 오늘의 지도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 시간표 (180분)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왼쪽 시간이 되면 다음 줄로 넘어갑니다. 못 끝낸 것은 선생님이 정리해 줍니다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94944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할 일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성공 기준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038A6"/>
                          </a:solidFill>
                        </a:rPr>
                        <a:t>0:00–0:15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완성품 구경 · 부품 확인 · 우리 팀 버전 확인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038A6"/>
                          </a:solidFill>
                        </a:rPr>
                        <a:t>0:15–0:45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① 배선 — 실드에 부품 3개 꽂기 (V1 SEL 뺌 · V2 SEL 꽂음)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전원 넣어도 연기 안 남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038A6"/>
                          </a:solidFill>
                        </a:rPr>
                        <a:t>0:45–1:05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② 센서 테스트 — 가리면 % 내려감 · PIR 감지 · DARK_LEVEL 정하기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시리얼에 숫자 보임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038A6"/>
                          </a:solidFill>
                        </a:rPr>
                        <a:t>1:05–1:25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③ 출력 테스트 — V1 무지개·c red / V2 1·0·blink 딸깍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무지개 / 딸깍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038A6"/>
                          </a:solidFill>
                        </a:rPr>
                        <a:t>1:25–1:35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쉬는 시간 (V2 팀: 이때 선생님이 220V 전구를 연결)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038A6"/>
                          </a:solidFill>
                        </a:rPr>
                        <a:t>1:35–2:05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④ 자동 무드등 — DARK_LEVEL 적고 업로드 · 불 끄고 손 흔들기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저절로 켜짐·꺼짐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038A6"/>
                          </a:solidFill>
                        </a:rPr>
                        <a:t>2:05–2:40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⑤ 폰 연동 — TEAM_ID 한 줄 바꿔 업로드 · 앱에서 팀 선택 · 버튼·음성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폰에서 "켜 줘"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038A6"/>
                          </a:solidFill>
                        </a:rPr>
                        <a:t>2:40–3:00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팀별 발표 · 정리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① 배선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보드 알아보기 — 센서쉴드에 바로 꽂는다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Wemos D1 R32 (ESP32 · 와이파이 내장) 위에 센서쉴드 V5를 얹은 상태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12264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1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05740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실드에는 핀마다 </a:t>
            </a:r>
            <a:pPr indent="0" marL="0">
              <a:buNone/>
            </a:pPr>
            <a:r>
              <a:rPr lang="en-US" sz="1300" b="1" dirty="0">
                <a:solidFill>
                  <a:srgbClr val="5038A6"/>
                </a:solidFill>
              </a:rPr>
              <a:t>S·V·G 3핀 헤더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— 브레드보드 없이 암-암 점퍼선으로 바로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2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51460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실드의 숫자 = 우노 라벨. </a:t>
            </a:r>
            <a:pPr indent="0" marL="0">
              <a:buNone/>
            </a:pPr>
            <a:r>
              <a:rPr lang="en-US" sz="1300" b="1" dirty="0">
                <a:solidFill>
                  <a:srgbClr val="5038A6"/>
                </a:solidFill>
              </a:rPr>
              <a:t>아래 표의 자리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만 알면 됨 (코드 속 GPIO 번호는 몰라도 됨)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3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7180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모듈마다 핀 순서가 다름 → </a:t>
            </a:r>
            <a:pPr indent="0" marL="0">
              <a:buNone/>
            </a:pPr>
            <a:r>
              <a:rPr lang="en-US" sz="1300" b="1" dirty="0">
                <a:solidFill>
                  <a:srgbClr val="5038A6"/>
                </a:solidFill>
              </a:rPr>
              <a:t>모듈 핀 이름을 보고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S·V·G에 한 가닥씩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4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42900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조도센서 VCC만 따로: 실드 V는 5V라서 </a:t>
            </a:r>
            <a:pPr indent="0" marL="0">
              <a:buNone/>
            </a:pPr>
            <a:r>
              <a:rPr lang="en-US" sz="1300" b="1" dirty="0">
                <a:solidFill>
                  <a:srgbClr val="5038A6"/>
                </a:solidFill>
              </a:rPr>
              <a:t>Bluetooth 헤더의 3V3 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에 꽂음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502920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부품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실드 자리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모듈 핀 → 헤더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네오픽셀 띠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6번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DIN→S · 5V→V · GND→G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03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릴레이 (KY-019)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2번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S→S · +→V · −→G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03D"/>
                          </a:solidFill>
                        </a:rPr>
                        <a:t>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인체감지 PIR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3번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OUT→S · VCC→V · GND→G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03D"/>
                          </a:solidFill>
                        </a:rPr>
                        <a:t>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조도센서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A3 + 3V3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AO→S · GND→G · VCC→3V3 핀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03D"/>
                          </a:solidFill>
                        </a:rPr>
                        <a:t>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① 배선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66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따라 하기</a:t>
            </a:r>
            <a:endParaRPr lang="en-US" sz="105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V1 네오픽셀 — 실드에 3개만 꽂으면 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881360" y="10058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0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66751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9" name="Image 0" descr="/home/user/esp32/iot-mood-lamp/docs/images/wiring_v1_neopix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6400800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89520" y="1965960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1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네오픽셀 → 실드 </a:t>
            </a:r>
            <a:pPr indent="0" marL="0">
              <a:buNone/>
            </a:pPr>
            <a:r>
              <a:rPr lang="en-US" sz="1400" b="1" dirty="0">
                <a:solidFill>
                  <a:srgbClr val="5038A6"/>
                </a:solidFill>
              </a:rPr>
              <a:t>6번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267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DIN→S · 5V→V · GND→G · 화살표 쪽이 DIN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89520" y="2743200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2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PIR → 실드 </a:t>
            </a:r>
            <a:pPr indent="0" marL="0">
              <a:buNone/>
            </a:pPr>
            <a:r>
              <a:rPr lang="en-US" sz="1400" b="1" dirty="0">
                <a:solidFill>
                  <a:srgbClr val="5038A6"/>
                </a:solidFill>
              </a:rPr>
              <a:t>3번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OUT→S · VCC→V · GND→G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89520" y="3520440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3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조도센서 → </a:t>
            </a:r>
            <a:pPr indent="0" marL="0">
              <a:buNone/>
            </a:pPr>
            <a:r>
              <a:rPr lang="en-US" sz="1400" b="1" dirty="0">
                <a:solidFill>
                  <a:srgbClr val="5038A6"/>
                </a:solidFill>
              </a:rPr>
              <a:t>A3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3822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AO→S · GND→G · VCC는 Bluetooth 헤더 3V3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589520" y="434340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26280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229600" y="4462272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1C12"/>
                </a:solidFill>
              </a:rPr>
              <a:t>SEL 점퍼는 뺀다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1C12"/>
                </a:solidFill>
              </a:rPr>
              <a:t>네오픽셀·PIR 전원은 충전기 2.4A 포트 → EXT PWR (업로드·테스트 중에도 꽂아 둔다. PC USB만으로는 안 켜짐). 보드는 PC USB, 완성 후 1A 포트 → micro USB. 점퍼를 꽂은 채 EXT PWR에 전원을 넣으면 합선.</a:t>
            </a:r>
            <a:endParaRPr lang="en-US" sz="1100" dirty="0"/>
          </a:p>
        </p:txBody>
      </p:sp>
      <p:sp>
        <p:nvSpPr>
          <p:cNvPr id="26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① 배선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66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따라 하기</a:t>
            </a:r>
            <a:endParaRPr lang="en-US" sz="105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V2 릴레이 전구 — 실드 쪽까지만 내가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881360" y="10058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0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66751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9" name="Image 0" descr="/home/user/esp32/iot-mood-lamp/docs/images/wiring_v2_r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6400800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89520" y="1965960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1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릴레이 → 실드 </a:t>
            </a:r>
            <a:pPr indent="0" marL="0">
              <a:buNone/>
            </a:pPr>
            <a:r>
              <a:rPr lang="en-US" sz="1400" b="1" dirty="0">
                <a:solidFill>
                  <a:srgbClr val="5038A6"/>
                </a:solidFill>
              </a:rPr>
              <a:t>2번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267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S→S · +→V · −→G (3핀 나란히)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89520" y="2697480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2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PIR → 실드 </a:t>
            </a:r>
            <a:pPr indent="0" marL="0">
              <a:buNone/>
            </a:pPr>
            <a:r>
              <a:rPr lang="en-US" sz="1400" b="1" dirty="0">
                <a:solidFill>
                  <a:srgbClr val="5038A6"/>
                </a:solidFill>
              </a:rPr>
              <a:t>3번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OUT→S · VCC→V · GND→G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89520" y="3429000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3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조도센서 → </a:t>
            </a:r>
            <a:pPr indent="0" marL="0">
              <a:buNone/>
            </a:pPr>
            <a:r>
              <a:rPr lang="en-US" sz="1400" b="1" dirty="0">
                <a:solidFill>
                  <a:srgbClr val="5038A6"/>
                </a:solidFill>
              </a:rPr>
              <a:t>A3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3730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AO→S · GND→G · VCC는 Bluetooth 헤더 3V3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589520" y="4160520"/>
            <a:ext cx="329184" cy="329184"/>
          </a:xfrm>
          <a:prstGeom prst="ellipse">
            <a:avLst/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8952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4</a:t>
            </a:r>
            <a:endParaRPr lang="en-US" sz="108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SEL 점퍼는 </a:t>
            </a:r>
            <a:pPr indent="0" marL="0">
              <a:buNone/>
            </a:pPr>
            <a:r>
              <a:rPr lang="en-US" sz="1400" b="1" dirty="0">
                <a:solidFill>
                  <a:srgbClr val="F2A03D"/>
                </a:solidFill>
              </a:rPr>
              <a:t>꽂는다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4462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보드 5V로 릴레이·PIR까지 동작 · 5V 1A 충전기 1개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589520" y="489204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74920"/>
            <a:ext cx="310896" cy="31089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229600" y="4983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1C12"/>
                </a:solidFill>
              </a:rPr>
              <a:t>220V는 절대 만지지 않는다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1C12"/>
                </a:solidFill>
              </a:rPr>
              <a:t>전구·콘센트 쪽(COM·NO 단자)은 선생님이 연결하고 덮는다. 나는 실드 쪽 저전압 배선까지만.</a:t>
            </a:r>
            <a:endParaRPr lang="en-US" sz="1100" dirty="0"/>
          </a:p>
        </p:txBody>
      </p:sp>
      <p:sp>
        <p:nvSpPr>
          <p:cNvPr id="30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② 센서 테스트 · 두 버전 공통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66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실습 · 20분</a:t>
            </a:r>
            <a:endParaRPr lang="en-US" sz="105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센서 값을 보며 숫자 하나를 정한다</a:t>
            </a:r>
            <a:endParaRPr lang="en-US" sz="3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step1_sensor_test 업로드 → 시리얼 모니터 115200 · 1초마다 한 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675120" cy="1325880"/>
          </a:xfrm>
          <a:prstGeom prst="roundRect">
            <a:avLst>
              <a:gd name="adj" fmla="val 5517"/>
            </a:avLst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21408"/>
            <a:ext cx="6217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조도 원시값=2890  밝기= 70%  → 밝음   → 꺼짐 (기준 30%)  |  PIR=0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PIR ▲ 감지됨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조도 원시값= 830  밝기= 20%  → 어두움 → 켜짐 (기준 30%)  |  PIR=1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내 기록표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66751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밝기 %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교실 불 켬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442"/>
                          </a:solidFill>
                        </a:rPr>
                        <a:t>교실 불 끔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038A6"/>
                          </a:solidFill>
                        </a:rPr>
                        <a:t>→ 그 사이 숫자 = DARK_LEVEL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760720"/>
            <a:ext cx="6675120" cy="411480"/>
          </a:xfrm>
          <a:prstGeom prst="roundRect">
            <a:avLst>
              <a:gd name="adj" fmla="val 17778"/>
            </a:avLst>
          </a:prstGeom>
          <a:solidFill>
            <a:srgbClr val="DDD8F7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57607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이 숫자를 ④·⑤ 코드 위쪽에 똑같이 적습니다. 기록표를 사진으로 남겨 두세요.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201168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3042" y="2305202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41248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손으로 센서를 가린다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41248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밝기 %가 내려가야 정상. 올라가면 코드 위쪽 DARK_IS_HIGH를 false로 바꿔 다시 업로드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589520" y="338328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0" y="3566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042" y="367680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1248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PIR 앞에서 움직인다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▲ 감지됨이 뜨는지 본다. 전원 넣고 30~60초는 값이 불안정하니 기다린다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589520" y="475488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0" y="4937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042" y="5048402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41248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DARK_LEVEL 정하기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41248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불 켬 70% · 불 끔 15% 라면 그 사이 30. 켜졌으면 하는 상황과 꺼졌으면 하는 상황 사이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③ 출력 테스트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66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실습 · 20분</a:t>
            </a:r>
            <a:endParaRPr lang="en-US" sz="105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V1 네오픽셀 — 무지개가 흐르면 성공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881360" y="10058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0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V1</a:t>
            </a:r>
            <a:endParaRPr lang="en-US" sz="105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step2_neopixel_test — 아래 설정은 바꾸지 않습니다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21408"/>
            <a:ext cx="62179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#define LED_PIN    27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#define LED_COUNT 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Adafruit_NeoPixel strip(LED_COUNT, LED_PIN, NEO_GRB + NEO_KHZ800);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strip.setBrightness(50);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시리얼에 쳐 보기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red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4023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빨강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07408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074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FF8800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4074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6자리 색 코드로 나만의 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9145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791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rainbow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47914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무지개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75504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1755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50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51755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밝기 0~255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59552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595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240280" y="55595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끄기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이렇게 보이면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89520" y="237744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초록·빨강·파랑·꺼짐이 한 칸씩 멈춰 있음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27980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</a:rPr>
              <a:t>→ NEO_GRB 로 되어 있는지 확인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589520" y="333756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0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끝쪽 LED가 안 켜지거나 앞쪽만 켜짐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3758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</a:rPr>
              <a:t>→ LED_COUNT 를 내 띠의 LED 개수로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89520" y="429768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4370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 red 쳤는데 다른 색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4718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</a:rPr>
              <a:t>→ NEO_GRB → NEO_RGB 로 바꿔 보기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89520" y="525780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0" y="5330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아예 안 켜짐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5678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</a:rPr>
              <a:t>→ EXT PWR 전원 · SEL 점퍼 뺐는지 · DIN 방향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③ 출력 테스트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66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실습 · 20분</a:t>
            </a:r>
            <a:endParaRPr lang="en-US" sz="105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V2 릴레이 — '딸깍' 소리가 나면 성공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881360" y="10058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0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V2</a:t>
            </a:r>
            <a:endParaRPr lang="en-US" sz="105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step2_relay_test — 220V 없이 릴레이만 꽂고 테스트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21408"/>
            <a:ext cx="62179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int  RELAY_PIN        = 26;    // 실드 2번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bool RELAY_ACTIVE_LOW = false; // KY-019형 = HIGH에서 켜짐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부팅 때 깜빡임 방지: pinMode 전에 '꺼짐'을 먼저 쓴다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시리얼에 쳐 보기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4023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켜기 — 딸깍 + 모듈 LED 켜짐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07408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074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4074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끄기 — 딸깍 + LED 꺼짐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9145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791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47914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토글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75504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FEAFB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1755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blink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51755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3번 깜빡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확인할 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9520" y="237744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615184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321040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1 → 딸깍 + LED 켜짐 · 0 → 딸깍 + 꺼짐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27980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소리와 LED가 같이 바뀌어야 정상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589520" y="333756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75304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321040" y="3410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보드 RESET 버튼을 눌러 본다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8321040" y="37581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리셋 순간에 릴레이가 붙으면 안 됨 (전구 깜빡임 방지)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589520" y="429768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35424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321040" y="4370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전구가 거꾸로면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321040" y="47183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모듈 LED는 맞는데 전구만 반대 → 전구 선을 NC에서 NO 단자로 (코드 아님)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7589520" y="525780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495544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321040" y="5330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전구 점등은 선생님이</a:t>
            </a:r>
            <a:endParaRPr lang="en-US" sz="1150" dirty="0"/>
          </a:p>
        </p:txBody>
      </p:sp>
      <p:sp>
        <p:nvSpPr>
          <p:cNvPr id="40" name="Text 34"/>
          <p:cNvSpPr txBox="1"/>
          <p:nvPr/>
        </p:nvSpPr>
        <p:spPr>
          <a:xfrm>
            <a:off x="8321040" y="56784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쉬는 시간에 220V를 연결해 주시면 ④부터는 진짜 전구로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④ 자동 무드등 · 두 버전 공통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66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실습 · 30분</a:t>
            </a:r>
            <a:endParaRPr lang="en-US" sz="105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센서 받고 출력하기 — 와이파이 없이 저절로</a:t>
            </a:r>
            <a:endParaRPr lang="en-US" sz="3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V1 step3_auto_mood_lamp · V2 step3_auto_lamp — ②·③ 코드를 합친 것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675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V1 네오픽셀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3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V2 전구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0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밝기 &lt; DARK_LEVEL 그리고 움직임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웜화이트로 1초 서서히 켜짐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딸깍 — 켜짐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밝기 ≥ DARK_LEVEL + 5% (불 켬)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서서히 꺼짐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딸깍 — 꺼짐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움직임 없이 5분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서서히 꺼짐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꺼짐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시리얼 on / off / auto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수동 ↔ 자동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442"/>
                          </a:solidFill>
                        </a:rPr>
                        <a:t>수동 ↔ 자동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434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코드 위쪽에 ②에서 정한 숫자를 그대로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84632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956048"/>
            <a:ext cx="6217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int  DARK_LEVEL   = 30;    // 내 숫자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bool DARK_IS_HIGH = true;  // ②에서 확인한 방향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201168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2212848"/>
            <a:ext cx="457200" cy="457200"/>
          </a:xfrm>
          <a:prstGeom prst="ellipse">
            <a:avLst/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32257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1248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확인 순서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불 끄고 손 흔들기 → 켜짐 · 불 켜기 → 꺼짐 · 가만히 있기 → 꺼짐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589520" y="33375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5844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자기 빛 주의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조도센서가 내 조명 빛을 보면 켜짐↔꺼짐 반복. 시리얼 sensor 로 값을 보며 센서를 돌린다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589520" y="46634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91032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1248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PIR만 / 조도만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PIR만: DARK_LEVEL = 100 · 조도만: USE_PIR = false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⑤ 폰 연동 · 두 버전 공통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66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실습 · 35분</a:t>
            </a:r>
            <a:endParaRPr lang="en-US" sz="105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폰에서 누르면, 말하면 바로 켜진다</a:t>
            </a:r>
            <a:endParaRPr lang="en-US" sz="3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앱은 선생님이 준 링크 하나 · 설정 탭에서 내 팀 번호만 고른다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8" name="Image 0" descr="app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484632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76072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DDD8F7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60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반응 0.1~0.5초.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느리면 거의 다 교실 와이파이 문제 — 보드가 아니라.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내가 바꾸는 것은 한 줄 — 내 팀 번호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237744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1F1442"/>
          </a:solidFill>
          <a:ln w="12700">
            <a:solidFill>
              <a:srgbClr val="1F144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2487168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char* TEAM_ID = "TEAM01";   // 내 팀 번호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926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와이파이·브로커 값은 선생님이 미리 채워 둔 파일 (step5_app_mqtt)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3346704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1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32918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업로드 → 시리얼에 </a:t>
            </a:r>
            <a:pPr indent="0" marL="0">
              <a:buNone/>
            </a:pPr>
            <a:r>
              <a:rPr lang="en-US" sz="1300" b="1" dirty="0">
                <a:solidFill>
                  <a:srgbClr val="5038A6"/>
                </a:solidFill>
              </a:rPr>
              <a:t>"브로커 연결됨"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35040" y="3849624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350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2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37947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앱 설정 탭 → </a:t>
            </a:r>
            <a:pPr indent="0" marL="0">
              <a:buNone/>
            </a:pPr>
            <a:r>
              <a:rPr lang="en-US" sz="1300" b="1" dirty="0">
                <a:solidFill>
                  <a:srgbClr val="5038A6"/>
                </a:solidFill>
              </a:rPr>
              <a:t>내 팀 선택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→ 켜기 버튼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35040" y="4352544"/>
            <a:ext cx="329184" cy="329184"/>
          </a:xfrm>
          <a:prstGeom prst="ellipse">
            <a:avLst/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35040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chemeClr val="bg1"/>
                </a:solidFill>
              </a:rPr>
              <a:t>3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42976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🎤 </a:t>
            </a:r>
            <a:pPr indent="0" marL="0">
              <a:buNone/>
            </a:pPr>
            <a:r>
              <a:rPr lang="en-US" sz="1300" b="1" dirty="0">
                <a:solidFill>
                  <a:srgbClr val="5038A6"/>
                </a:solidFill>
              </a:rPr>
              <a:t>"켜 줘" · "꺼 줘" · "자동으로"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35040" y="493776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502920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5029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V1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색·밝기도 됨 — "파란색으로" · "밝기 50"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35040" y="548640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2200" y="557784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72200" y="5577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V2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켜기·끄기·자동만 — 색 명령은 무시됨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막혔을 때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손 들기 전에 30초 체크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대부분은 이 열두 줄 안에서 끝납니다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3152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전원·점퍼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718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보드 micro USB에는 PC와 충전기 중 하나만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V1: SEL 뺌 + EXT PWR 꽂음 (테스트 중에도)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V2: SEL 꽂음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선이 S·V·G 자리에 맞나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01168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194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23152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120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센서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9718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가리면 % 내려가나 (DARK_IS_HIGH)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PIR은 전원 후 1분 기다렸나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센서가 내 조명 빛을 보고 있나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DARK_LEVEL 숫자를 ④·⑤에 적었나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75320" y="2194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23152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611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폰 연동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9718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와이파이 2.4GHz 이름·비번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TEAM_ID가 내 팀 번호인가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앱 설정 탭에서 같은 팀을 골랐나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442"/>
                </a:solidFill>
              </a:rPr>
              <a:t>시리얼에 "브로커 연결됨" 떴나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492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50749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이럴 땐 체크 없이 바로 손 든다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연기·탄 냄새 · 보드나 부품이 뜨거움 · 220V 쪽 선이 흔들리거나 벗겨짐 · 체크 두 바퀴 돌았는데 그대로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마무리 · 2:40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발표 — 오늘 우리 팀이 해낸 것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조명을 켜 두고 되는 것을 보여줍니다. V1은 네 가지, V2는 세 가지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센서로 켜고 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55848" y="21031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폰 버튼으로 켠다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63056" y="21031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7376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말로 켠다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970264" y="21031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5038A6"/>
          </a:solidFill>
          <a:ln w="12700">
            <a:solidFill>
              <a:srgbClr val="503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44584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244584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색을 바꾼다 (V1)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D8F7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17720"/>
            <a:ext cx="502920" cy="5029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434340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시간이 남으면 (코드 수정 없이)  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6591"/>
                </a:solidFill>
              </a:rPr>
              <a:t>c FF8800 처럼 나만의 색 코드 · 앱 자동화 탭에서 어두움 기준·꺼지는 시간 바꾸기 · PIR 다이얼 돌려 '사람 없음' 시간 바꾸기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66928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DDD8F7"/>
          </a:solidFill>
          <a:ln w="12700">
            <a:solidFill>
              <a:srgbClr val="DDD8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오늘 만든 것은 진짜 IoT 제품의 축소판입니다 — 센서 · 보드 · 브로커 · 앱이 함께 움직였습니다.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5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odLamp Lavender">
  <a:themeElements>
    <a:clrScheme name="MoodLamp Lavender">
      <a:dk1>
        <a:srgbClr val="1F1442"/>
      </a:dk1>
      <a:lt1>
        <a:srgbClr val="FFFFFF"/>
      </a:lt1>
      <a:dk2>
        <a:srgbClr val="6E6591"/>
      </a:dk2>
      <a:lt2>
        <a:srgbClr val="EFEAFB"/>
      </a:lt2>
      <a:accent1>
        <a:srgbClr val="5038A6"/>
      </a:accent1>
      <a:accent2>
        <a:srgbClr val="F2A03D"/>
      </a:accent2>
      <a:accent3>
        <a:srgbClr val="2A9D8F"/>
      </a:accent3>
      <a:accent4>
        <a:srgbClr val="E0567A"/>
      </a:accent4>
      <a:accent5>
        <a:srgbClr val="3D7FD9"/>
      </a:accent5>
      <a:accent6>
        <a:srgbClr val="DDD8F7"/>
      </a:accent6>
      <a:hlink>
        <a:srgbClr val="5038A6"/>
      </a:hlink>
      <a:folHlink>
        <a:srgbClr val="7A52C7"/>
      </a:folHlink>
    </a:clrScheme>
    <a:fontScheme name="MoodLamp Lavender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무드등 만들기 — 학생용</dc:title>
  <dc:subject>PptxGenJS Presentation</dc:subject>
  <dc:creator>IoT 무드등 프로젝트</dc:creator>
  <cp:lastModifiedBy>IoT 무드등 프로젝트</cp:lastModifiedBy>
  <cp:revision>1</cp:revision>
  <dcterms:created xsi:type="dcterms:W3CDTF">2026-10-23T14:29:20Z</dcterms:created>
  <dcterms:modified xsi:type="dcterms:W3CDTF">2026-10-23T14:29:20Z</dcterms:modified>
</cp:coreProperties>
</file>